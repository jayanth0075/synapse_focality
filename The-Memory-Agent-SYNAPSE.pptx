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Patrick Hand" panose="00000500000000000000" pitchFamily="2" charset="0"/>
      <p:regular r:id="rId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7" d="100"/>
          <a:sy n="57" d="100"/>
        </p:scale>
        <p:origin x="556" y="-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356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9D9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7F7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Relationship Id="rId9" Type="http://schemas.openxmlformats.org/officeDocument/2006/relationships/image" Target="../media/image11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2633424"/>
            <a:ext cx="5195292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Memory Agent: SYNAPSE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3620810"/>
            <a:ext cx="7415927" cy="19752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 sophisticated AI system engineered to solve organizational memory loss—one of the most expensive and frustrating challenges facing modern enterprises. We move beyond simple search to create a dynamic, self-building corporate knowledge repository that transforms how organizations preserve and leverage institutional knowledge.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64037" y="683181"/>
            <a:ext cx="7415927" cy="12342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Problem: Organizational Memory Loss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864037" y="2534483"/>
            <a:ext cx="296263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Hidden Cost</a:t>
            </a:r>
            <a:endParaRPr lang="en-US" sz="2300" dirty="0"/>
          </a:p>
        </p:txBody>
      </p:sp>
      <p:sp>
        <p:nvSpPr>
          <p:cNvPr id="5" name="Text 2"/>
          <p:cNvSpPr/>
          <p:nvPr/>
        </p:nvSpPr>
        <p:spPr>
          <a:xfrm>
            <a:off x="864037" y="3151584"/>
            <a:ext cx="3406854" cy="2370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Every day, critical business intelligence is lost in scattered emails, forgotten meetings, and disconnected documents. Teams repeatedly solve the same problems, unaware of previous solutions.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864037" y="5744051"/>
            <a:ext cx="3406854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Traditional search tools fail because they treat information as isolated fragments rather than interconnected knowledge.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4880729" y="2534483"/>
            <a:ext cx="2962632" cy="3702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Enterprise Impact</a:t>
            </a:r>
            <a:endParaRPr lang="en-US" sz="2300" dirty="0"/>
          </a:p>
        </p:txBody>
      </p:sp>
      <p:sp>
        <p:nvSpPr>
          <p:cNvPr id="8" name="Text 5"/>
          <p:cNvSpPr/>
          <p:nvPr/>
        </p:nvSpPr>
        <p:spPr>
          <a:xfrm>
            <a:off x="4880729" y="3151584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Duplicated effort across departments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4880729" y="4028003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Lost expertise when employees leave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4880729" y="4904423"/>
            <a:ext cx="3406854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Repeated mistakes from forgotten failures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880729" y="5780842"/>
            <a:ext cx="3406854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Inefficient resource allocation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4037" y="1498283"/>
            <a:ext cx="6699290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Innovation: Semantic Intelligence</a:t>
            </a:r>
            <a:endParaRPr lang="en-US" sz="3850" dirty="0"/>
          </a:p>
        </p:txBody>
      </p:sp>
      <p:sp>
        <p:nvSpPr>
          <p:cNvPr id="3" name="Text 1"/>
          <p:cNvSpPr/>
          <p:nvPr/>
        </p:nvSpPr>
        <p:spPr>
          <a:xfrm>
            <a:off x="864037" y="260913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01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864037" y="2998232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64037" y="318254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Automated Data Extraction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64037" y="3639264"/>
            <a:ext cx="41362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Self-hosted n8n automation engine securely extracts data from Google Workspace APIs—Calendar, Docs, and Gmail—creating a continuous feed of organizational activity.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247084" y="260913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02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247084" y="2998232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47084" y="3182541"/>
            <a:ext cx="2468880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Advanced Reasoning Engine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247084" y="3639264"/>
            <a:ext cx="41362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Ollama performs structured entity extraction, converting chaotic meeting notes into precise, queryable data points with defined relationships.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630132" y="2609136"/>
            <a:ext cx="246817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 Light" pitchFamily="34" charset="0"/>
                <a:ea typeface="Patrick Hand Light" pitchFamily="34" charset="-122"/>
                <a:cs typeface="Patrick Hand Light" pitchFamily="34" charset="-120"/>
              </a:rPr>
              <a:t>03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9630132" y="2998232"/>
            <a:ext cx="4136231" cy="30480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30132" y="3182541"/>
            <a:ext cx="2722721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Knowledge Graph Construction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630132" y="3639264"/>
            <a:ext cx="4136231" cy="15801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Neo4j powers a dynamic knowledge graph that maps relationships between people, projects, decisions, and outcomes—not just storing documents, but understanding connections.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64037" y="5682258"/>
            <a:ext cx="12902327" cy="1049060"/>
          </a:xfrm>
          <a:prstGeom prst="roundRect">
            <a:avLst>
              <a:gd name="adj" fmla="val 9884"/>
            </a:avLst>
          </a:prstGeom>
          <a:solidFill>
            <a:srgbClr val="D9D9D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853" y="6056709"/>
            <a:ext cx="308610" cy="246817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66280" y="5990749"/>
            <a:ext cx="11853267" cy="3950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Example Extraction:</a:t>
            </a:r>
            <a:r>
              <a:rPr lang="en-US" sz="1900" dirty="0">
                <a:solidFill>
                  <a:srgbClr val="000000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Person → Discussed Project → FAILED → Due to Problem (XYZ)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87824" y="854750"/>
            <a:ext cx="5031581" cy="491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Agentic Power: Predictive Foresight</a:t>
            </a:r>
            <a:endParaRPr lang="en-US" sz="3050" dirty="0"/>
          </a:p>
        </p:txBody>
      </p:sp>
      <p:sp>
        <p:nvSpPr>
          <p:cNvPr id="4" name="Text 1"/>
          <p:cNvSpPr/>
          <p:nvPr/>
        </p:nvSpPr>
        <p:spPr>
          <a:xfrm>
            <a:off x="687824" y="1640800"/>
            <a:ext cx="7768352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Memory Agent doesn't wait for questions—it proactively analyzes graph structures to identify hidden patterns through multi-hop reasoning, delivering timely, high-value insights before problems occur.</a:t>
            </a:r>
            <a:endParaRPr lang="en-US" sz="1500" dirty="0"/>
          </a:p>
        </p:txBody>
      </p:sp>
      <p:sp>
        <p:nvSpPr>
          <p:cNvPr id="5" name="Shape 2"/>
          <p:cNvSpPr/>
          <p:nvPr/>
        </p:nvSpPr>
        <p:spPr>
          <a:xfrm>
            <a:off x="687824" y="2490788"/>
            <a:ext cx="3785949" cy="2501027"/>
          </a:xfrm>
          <a:prstGeom prst="roundRect">
            <a:avLst>
              <a:gd name="adj" fmla="val 330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91897" y="2694861"/>
            <a:ext cx="589598" cy="589598"/>
          </a:xfrm>
          <a:prstGeom prst="roundRect">
            <a:avLst>
              <a:gd name="adj" fmla="val 155073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54060" y="2856905"/>
            <a:ext cx="265271" cy="26527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91897" y="3480911"/>
            <a:ext cx="1965365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Preventive Warnings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891897" y="3844409"/>
            <a:ext cx="3377803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Detects when new project plans have high similarity scores to previous failures, issuing alerts before resources are wasted.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4670227" y="2490788"/>
            <a:ext cx="3785949" cy="2501027"/>
          </a:xfrm>
          <a:prstGeom prst="roundRect">
            <a:avLst>
              <a:gd name="adj" fmla="val 3301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4874300" y="2694861"/>
            <a:ext cx="589598" cy="589598"/>
          </a:xfrm>
          <a:prstGeom prst="roundRect">
            <a:avLst>
              <a:gd name="adj" fmla="val 155073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36463" y="2856905"/>
            <a:ext cx="265271" cy="2652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4874300" y="3480911"/>
            <a:ext cx="1965365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Expert Discovery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74300" y="3844409"/>
            <a:ext cx="3377803" cy="943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Automatically maps subject matter expertise based on meeting frequency, problem-solving history, and documented outcomes.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87824" y="5188268"/>
            <a:ext cx="7768352" cy="2186583"/>
          </a:xfrm>
          <a:prstGeom prst="roundRect">
            <a:avLst>
              <a:gd name="adj" fmla="val 3775"/>
            </a:avLst>
          </a:prstGeom>
          <a:solidFill>
            <a:srgbClr val="E6E6E6"/>
          </a:solidFill>
          <a:ln w="762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91897" y="5392341"/>
            <a:ext cx="589598" cy="589598"/>
          </a:xfrm>
          <a:prstGeom prst="roundRect">
            <a:avLst>
              <a:gd name="adj" fmla="val 15507321"/>
            </a:avLst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4060" y="5554385"/>
            <a:ext cx="265271" cy="26527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91897" y="6178391"/>
            <a:ext cx="1965365" cy="245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Pattern Recognition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91897" y="6541889"/>
            <a:ext cx="7360206" cy="628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5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Identifies recurring challenges and successful strategies across departments, enabling cross-functional learning.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9742" y="778550"/>
            <a:ext cx="5000744" cy="5639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Enterprise-Grade Architecture</a:t>
            </a:r>
            <a:endParaRPr lang="en-US" sz="3550" dirty="0"/>
          </a:p>
        </p:txBody>
      </p:sp>
      <p:sp>
        <p:nvSpPr>
          <p:cNvPr id="4" name="Text 1"/>
          <p:cNvSpPr/>
          <p:nvPr/>
        </p:nvSpPr>
        <p:spPr>
          <a:xfrm>
            <a:off x="789742" y="1906548"/>
            <a:ext cx="2695456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Technical Stack</a:t>
            </a:r>
            <a:endParaRPr lang="en-US" sz="2100" dirty="0"/>
          </a:p>
        </p:txBody>
      </p:sp>
      <p:sp>
        <p:nvSpPr>
          <p:cNvPr id="5" name="Text 2"/>
          <p:cNvSpPr/>
          <p:nvPr/>
        </p:nvSpPr>
        <p:spPr>
          <a:xfrm>
            <a:off x="789742" y="2470547"/>
            <a:ext cx="269545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n8n:</a:t>
            </a: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Self-hosted automation kernel &amp; Google Workspace 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89742" y="3271480"/>
            <a:ext cx="269545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Neo4j:</a:t>
            </a: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Graph database engine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89742" y="4072414"/>
            <a:ext cx="269545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OLLAMA ( Local AI):</a:t>
            </a: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Advanced reasoning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789742" y="4873347"/>
            <a:ext cx="269545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React:</a:t>
            </a: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Interactive visualization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789742" y="5674281"/>
            <a:ext cx="2695456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00"/>
              </a:lnSpc>
              <a:buSzPct val="100000"/>
              <a:buChar char="•"/>
            </a:pPr>
            <a:r>
              <a:rPr lang="en-US" sz="1750" b="1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Antigravity IDE:</a:t>
            </a: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 Development environment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4043363" y="1906548"/>
            <a:ext cx="2707719" cy="33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Security &amp; Scalability</a:t>
            </a:r>
            <a:endParaRPr lang="en-US" sz="2100" dirty="0"/>
          </a:p>
        </p:txBody>
      </p:sp>
      <p:sp>
        <p:nvSpPr>
          <p:cNvPr id="11" name="Text 8"/>
          <p:cNvSpPr/>
          <p:nvPr/>
        </p:nvSpPr>
        <p:spPr>
          <a:xfrm>
            <a:off x="4043363" y="2470547"/>
            <a:ext cx="4318397" cy="1082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Built with enterprise confidence in mind. Self-hosted n8n kernel guarantees complete data residency and privacy compliance.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4043363" y="3756541"/>
            <a:ext cx="4318397" cy="10829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Batch processing logic ensures operational stability and scalability under heavy data loads, while maintaining real-time insight generation.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789742" y="7253162"/>
            <a:ext cx="7564517" cy="7219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React interface renders a visual knowledge graph, making complex AI reasoning tangible and explorable—allowing decision-makers to see the connections driving predictive insights.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437" y="1167884"/>
            <a:ext cx="5438775" cy="6171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85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Transform Data Into Foresight</a:t>
            </a:r>
            <a:endParaRPr lang="en-US" sz="3850" dirty="0"/>
          </a:p>
        </p:txBody>
      </p:sp>
      <p:sp>
        <p:nvSpPr>
          <p:cNvPr id="4" name="Text 1"/>
          <p:cNvSpPr/>
          <p:nvPr/>
        </p:nvSpPr>
        <p:spPr>
          <a:xfrm>
            <a:off x="6350437" y="2278618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24/7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6350437" y="3401735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Continuous Learning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350437" y="3858458"/>
            <a:ext cx="22662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Always analyzing, always learning from organizational activity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925282" y="2278618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100%</a:t>
            </a:r>
            <a:endParaRPr lang="en-US" sz="6400" dirty="0"/>
          </a:p>
        </p:txBody>
      </p:sp>
      <p:sp>
        <p:nvSpPr>
          <p:cNvPr id="8" name="Text 5"/>
          <p:cNvSpPr/>
          <p:nvPr/>
        </p:nvSpPr>
        <p:spPr>
          <a:xfrm>
            <a:off x="8925282" y="3401735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Data Residency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925282" y="3858458"/>
            <a:ext cx="2266236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Complete control over sensitive enterprise information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11500128" y="2278618"/>
            <a:ext cx="2266236" cy="8146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6400"/>
              </a:lnSpc>
              <a:buNone/>
            </a:pPr>
            <a:r>
              <a:rPr lang="en-US" sz="64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∞</a:t>
            </a:r>
            <a:endParaRPr lang="en-US" sz="6400" dirty="0"/>
          </a:p>
        </p:txBody>
      </p:sp>
      <p:sp>
        <p:nvSpPr>
          <p:cNvPr id="11" name="Text 8"/>
          <p:cNvSpPr/>
          <p:nvPr/>
        </p:nvSpPr>
        <p:spPr>
          <a:xfrm>
            <a:off x="11500128" y="3401735"/>
            <a:ext cx="2266236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Scalable Growth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11500128" y="3858458"/>
            <a:ext cx="2266236" cy="7900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Knowledge graph expands with your organization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720721" y="5598914"/>
            <a:ext cx="7045643" cy="11851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383838"/>
                </a:solidFill>
                <a:latin typeface="Patrick Hand" pitchFamily="34" charset="0"/>
                <a:ea typeface="Patrick Hand" pitchFamily="34" charset="-122"/>
                <a:cs typeface="Patrick Hand" pitchFamily="34" charset="-120"/>
              </a:rPr>
              <a:t>The Memory Agent transforms scattered data into immediate, actionable business foresight—turning organizational memory from a liability into a strategic advantage.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6350437" y="5321260"/>
            <a:ext cx="30480" cy="1740456"/>
          </a:xfrm>
          <a:prstGeom prst="rect">
            <a:avLst/>
          </a:prstGeom>
          <a:solidFill>
            <a:srgbClr val="CCCCCC"/>
          </a:solidFill>
          <a:ln/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491</Words>
  <Application>Microsoft Office PowerPoint</Application>
  <PresentationFormat>Custom</PresentationFormat>
  <Paragraphs>58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Patrick Hand Light</vt:lpstr>
      <vt:lpstr>Patrick Hand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MURALI KRISHNA</cp:lastModifiedBy>
  <cp:revision>3</cp:revision>
  <dcterms:created xsi:type="dcterms:W3CDTF">2025-12-20T23:49:16Z</dcterms:created>
  <dcterms:modified xsi:type="dcterms:W3CDTF">2025-12-21T04:50:20Z</dcterms:modified>
</cp:coreProperties>
</file>